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B4F72">
              <a:alpha val="40000"/>
            </a:srgbClr>
          </a:solidFill>
          <a:ln w="12700">
            <a:solidFill>
              <a:srgbClr val="1B4F72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4288 · Computer Graphics Lab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6583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 Classroom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Visualization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11480" y="30632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OpenGL-based real-time 3D scene with lighting, textures,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animation, and procedural geometry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4023360"/>
            <a:ext cx="5029200" cy="685800"/>
          </a:xfrm>
          <a:prstGeom prst="rect">
            <a:avLst/>
          </a:prstGeom>
          <a:solidFill>
            <a:srgbClr val="2E86C1">
              <a:alpha val="25000"/>
            </a:srgbClr>
          </a:solidFill>
          <a:ln w="12700">
            <a:solidFill>
              <a:srgbClr val="2E86C1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09651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Lecturer:  </a:t>
            </a:r>
            <a:pPr indent="0" marL="0">
              <a:buNone/>
            </a:pPr>
            <a:r>
              <a:rPr lang="en-US" sz="125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Maimuna Chowdhury Disha   </a:t>
            </a:r>
            <a:pPr indent="0" marL="0">
              <a:buNone/>
            </a:pPr>
            <a:r>
              <a:rPr lang="en-US" sz="12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Group IDs: </a:t>
            </a:r>
            <a:pPr indent="0" marL="0">
              <a:buNone/>
            </a:pPr>
            <a:r>
              <a:rPr lang="en-US" sz="125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405 · 332 · 336 · 310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96112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renders a fully 3D classroom scene using OpenGL 3.3 Core Profile. It features physically-based lighting with ambient, diffuse and specular components, procedural textures, animated ceiling fans, and a perspective camera — all implemented from scratch in C++ without any external math or model-loading libraries.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3977640" cy="1143000"/>
          </a:xfrm>
          <a:prstGeom prst="rect">
            <a:avLst/>
          </a:prstGeom>
          <a:solidFill>
            <a:srgbClr val="1B4F72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2167128"/>
            <a:ext cx="347472" cy="347472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167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API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51460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C++17 with OpenGL 3.3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Profile (GLAD + GLFW)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2057400"/>
            <a:ext cx="3977640" cy="1143000"/>
          </a:xfrm>
          <a:prstGeom prst="rect">
            <a:avLst/>
          </a:prstGeom>
          <a:solidFill>
            <a:srgbClr val="2E86C1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27448" y="2167128"/>
            <a:ext cx="347472" cy="347472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2167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66360" y="2148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251460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Phong lighting model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vertex + fragment shaders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429000"/>
            <a:ext cx="3977640" cy="1143000"/>
          </a:xfrm>
          <a:prstGeom prst="rect">
            <a:avLst/>
          </a:prstGeom>
          <a:solidFill>
            <a:srgbClr val="1B4F72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3538728"/>
            <a:ext cx="347472" cy="347472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538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520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" y="388620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checker, stripe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bitmap-text textures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17720" y="3429000"/>
            <a:ext cx="3977640" cy="1143000"/>
          </a:xfrm>
          <a:prstGeom prst="rect">
            <a:avLst/>
          </a:prstGeom>
          <a:solidFill>
            <a:srgbClr val="2E86C1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27448" y="3538728"/>
            <a:ext cx="347472" cy="347472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27448" y="3538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66360" y="3520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54880" y="388620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fan rotation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glfwGetTime()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3D MATH LIBRARY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linear algebra is implemented from scratch — no GLM or external math library.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3931920" cy="777240"/>
          </a:xfrm>
          <a:prstGeom prst="rect">
            <a:avLst/>
          </a:prstGeom>
          <a:solidFill>
            <a:srgbClr val="EBF5FB"/>
          </a:solidFill>
          <a:ln w="9525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3350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identity()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6824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4×4 identity matrix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194560"/>
            <a:ext cx="3931920" cy="777240"/>
          </a:xfrm>
          <a:prstGeom prst="rect">
            <a:avLst/>
          </a:prstGeom>
          <a:solidFill>
            <a:srgbClr val="DFF0FA"/>
          </a:solidFill>
          <a:ln w="9525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22494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translate(x,y,z)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2596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translation matrix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3108960"/>
            <a:ext cx="3931920" cy="777240"/>
          </a:xfrm>
          <a:prstGeom prst="rect">
            <a:avLst/>
          </a:prstGeom>
          <a:solidFill>
            <a:srgbClr val="EBF5FB"/>
          </a:solidFill>
          <a:ln w="9525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31638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scale(x,y,z)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" y="3511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scale matrix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4023360"/>
            <a:ext cx="3931920" cy="777240"/>
          </a:xfrm>
          <a:prstGeom prst="rect">
            <a:avLst/>
          </a:prstGeom>
          <a:solidFill>
            <a:srgbClr val="DFF0FA"/>
          </a:solidFill>
          <a:ln w="9525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40782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rotateX/Y/Z(deg)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" y="4425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Per-axis rotation matrices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280160"/>
            <a:ext cx="3931920" cy="777240"/>
          </a:xfrm>
          <a:prstGeom prst="rect">
            <a:avLst/>
          </a:prstGeom>
          <a:solidFill>
            <a:srgbClr val="EBF5FB"/>
          </a:solidFill>
          <a:ln w="9525">
            <a:solidFill>
              <a:srgbClr val="2E8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13350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multiply(a,b)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64608" y="16824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Column-major 4×4 multiplication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194560"/>
            <a:ext cx="3931920" cy="777240"/>
          </a:xfrm>
          <a:prstGeom prst="rect">
            <a:avLst/>
          </a:prstGeom>
          <a:solidFill>
            <a:srgbClr val="DFF0FA"/>
          </a:solidFill>
          <a:ln w="9525">
            <a:solidFill>
              <a:srgbClr val="2E86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2494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perspective(fov,…)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64608" y="2596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projection matrix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3108960"/>
            <a:ext cx="3931920" cy="777240"/>
          </a:xfrm>
          <a:prstGeom prst="rect">
            <a:avLst/>
          </a:prstGeom>
          <a:solidFill>
            <a:srgbClr val="EBF5FB"/>
          </a:solidFill>
          <a:ln w="9525">
            <a:solidFill>
              <a:srgbClr val="2E86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31638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lookAt(eye,…)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64608" y="3511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matrix via Gram-Schmidt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4023360"/>
            <a:ext cx="3931920" cy="777240"/>
          </a:xfrm>
          <a:prstGeom prst="rect">
            <a:avLst/>
          </a:prstGeom>
          <a:solidFill>
            <a:srgbClr val="DFF0FA"/>
          </a:solidFill>
          <a:ln w="9525">
            <a:solidFill>
              <a:srgbClr val="2E86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40782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 / dot / cross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64608" y="4425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Vec3 utility functions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0" y="1188720"/>
            <a:ext cx="0" cy="3749040"/>
          </a:xfrm>
          <a:prstGeom prst="line">
            <a:avLst/>
          </a:prstGeom>
          <a:noFill/>
          <a:ln w="19050">
            <a:solidFill>
              <a:srgbClr val="2E86C1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matrices stored column-major (matching OpenGL convention) and passed to GLSL via glUniformMatrix4fv()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SHADER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Phong lighting model implemented entirely in GLSL 3.30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1920240" cy="1371600"/>
          </a:xfrm>
          <a:prstGeom prst="rect">
            <a:avLst/>
          </a:prstGeom>
          <a:solidFill>
            <a:srgbClr val="1B4F72"/>
          </a:solidFill>
          <a:ln w="1905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80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47472" y="1874520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positions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clip space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920240"/>
            <a:ext cx="292608" cy="0"/>
          </a:xfrm>
          <a:prstGeom prst="line">
            <a:avLst/>
          </a:prstGeom>
          <a:noFill/>
          <a:ln w="31750">
            <a:solidFill>
              <a:srgbClr val="1ABC9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87168" y="1234440"/>
            <a:ext cx="1920240" cy="1371600"/>
          </a:xfrm>
          <a:prstGeom prst="rect">
            <a:avLst/>
          </a:prstGeom>
          <a:solidFill>
            <a:srgbClr val="1B4F72"/>
          </a:solidFill>
          <a:ln w="1905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87168" y="1280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Rasterizer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60320" y="1874520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FragPos, Normal, UV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07408" y="1920240"/>
            <a:ext cx="292608" cy="0"/>
          </a:xfrm>
          <a:prstGeom prst="line">
            <a:avLst/>
          </a:prstGeom>
          <a:noFill/>
          <a:ln w="31750">
            <a:solidFill>
              <a:srgbClr val="1ABC9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0016" y="1234440"/>
            <a:ext cx="1920240" cy="1371600"/>
          </a:xfrm>
          <a:prstGeom prst="rect">
            <a:avLst/>
          </a:prstGeom>
          <a:solidFill>
            <a:srgbClr val="1ABC9C"/>
          </a:solidFill>
          <a:ln w="1905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0016" y="1280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73168" y="1874520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Phong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+ texture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20256" y="1920240"/>
            <a:ext cx="292608" cy="0"/>
          </a:xfrm>
          <a:prstGeom prst="line">
            <a:avLst/>
          </a:prstGeom>
          <a:noFill/>
          <a:ln w="31750">
            <a:solidFill>
              <a:srgbClr val="1ABC9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12864" y="1234440"/>
            <a:ext cx="1920240" cy="1371600"/>
          </a:xfrm>
          <a:prstGeom prst="rect">
            <a:avLst/>
          </a:prstGeom>
          <a:solidFill>
            <a:srgbClr val="1B4F72"/>
          </a:solidFill>
          <a:ln w="1905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12864" y="12801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86016" y="1874520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RGBA 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(depth tested)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8803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Shader Uniforms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" y="329184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uModel, uView, uProjection  — MVP matrices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uLightDir  — directional light vector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uAmbientColor, uDiffuseColor, uSpecColor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uViewPos  — camera position for specular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uTexture  — sampler2D for object texture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2880360"/>
            <a:ext cx="4114800" cy="2011680"/>
          </a:xfrm>
          <a:prstGeom prst="rect">
            <a:avLst/>
          </a:prstGeom>
          <a:solidFill>
            <a:srgbClr val="071520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926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Phong Equation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3310128"/>
            <a:ext cx="3931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B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ambient  = ambientColor × tex
</a:t>
            </a:r>
            <a:pPr algn="l" indent="0" marL="0">
              <a:buNone/>
            </a:pPr>
            <a:r>
              <a:rPr lang="en-US" sz="1200" dirty="0">
                <a:solidFill>
                  <a:srgbClr val="EB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     = max(dot(N, L), 0)
</a:t>
            </a:r>
            <a:pPr algn="l" indent="0" marL="0">
              <a:buNone/>
            </a:pPr>
            <a:r>
              <a:rPr lang="en-US" sz="1200" dirty="0">
                <a:solidFill>
                  <a:srgbClr val="EB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diffuse  = diffuseColor × diff × tex
</a:t>
            </a:r>
            <a:pPr algn="l" indent="0" marL="0">
              <a:buNone/>
            </a:pPr>
            <a:r>
              <a:rPr lang="en-US" sz="1200" dirty="0">
                <a:solidFill>
                  <a:srgbClr val="EB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    = pow(dot(V, R), 16)
</a:t>
            </a:r>
            <a:pPr algn="l" indent="0" marL="0">
              <a:buNone/>
            </a:pPr>
            <a:r>
              <a:rPr lang="en-US" sz="1200" dirty="0">
                <a:solidFill>
                  <a:srgbClr val="EBF5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specular = specColor × spec
</a:t>
            </a:r>
            <a:pPr algn="l" indent="0" marL="0">
              <a:buNone/>
            </a:pPr>
            <a:r>
              <a:rPr lang="en-US" sz="12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  = ambient + diffuse + specular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OBJECTS &amp; ROOM LAYOUT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 in the scene is composed from a single instanced cube mesh, scaled and positioned with model matrices. No external 3D models are used.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60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14173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Room Structure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" y="17556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(checker texture), 3 walls, ceiling — all single drawBox() calls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4160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" y="23317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Whiteboard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" y="26700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frame + white surface with 3 text texture strips (header, lecturer, group)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3200400"/>
            <a:ext cx="4160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9768" y="32461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🪑  Desks &amp; Chairs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" y="35844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student desks in a 3×2 grid + 6 chairs; teacher desk at the front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4114800"/>
            <a:ext cx="4160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768" y="41605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❄️  AC Unit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" y="44988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Stripe-textured body with SAMSUNG bitmap-text label on front face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1371600"/>
            <a:ext cx="4160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64608" y="14173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Ceiling Lights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64608" y="17556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light fixtures rendered with warm 1×1 pixel solid-color texture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4160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64608" y="23317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🌀  Ceiling Fans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64608" y="26700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animated fans — hub + 4 blades rotating in real-time via glfwGetTime()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0" y="3200400"/>
            <a:ext cx="4160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64608" y="32461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📽️  Projector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64608" y="35844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grey box body with vertical mount pole attached to ceiling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TEXTURE SYSTEM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textures generated at runtime in CPU memory — no image files needed.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822960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109728" cy="8229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93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createTexture1x1(r,g,b)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Walls, projector, lights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132588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single RGB pixel and uploads as GL_TEXTURE_2D. Used for flat solid colors.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185416"/>
            <a:ext cx="8503920" cy="822960"/>
          </a:xfrm>
          <a:prstGeom prst="rect">
            <a:avLst/>
          </a:prstGeom>
          <a:solidFill>
            <a:srgbClr val="D5F5E3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185416"/>
            <a:ext cx="109728" cy="8229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40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createCheckerTexture(w,h,…)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6426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Floor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0" y="227685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pixel buffer using (x/16 + y/16) % 2 to alternate between two RGB colors. Generates mipmaps.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136392"/>
            <a:ext cx="8503920" cy="822960"/>
          </a:xfrm>
          <a:prstGeom prst="rect">
            <a:avLst/>
          </a:prstGeom>
          <a:solidFill>
            <a:srgbClr val="FDEBD0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136392"/>
            <a:ext cx="109728" cy="8229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912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createStripeTexture(w,h,…)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593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Furniture, AC unit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322783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pixel buffer using (x/8) % 2 to create vertical stripes. Generates mipmaps for distance quality.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087368"/>
            <a:ext cx="8503920" cy="822960"/>
          </a:xfrm>
          <a:prstGeom prst="rect">
            <a:avLst/>
          </a:prstGeom>
          <a:solidFill>
            <a:srgbClr val="F4ECF7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087368"/>
            <a:ext cx="109728" cy="8229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1422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createTextTexture(text,…)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544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Whiteboard, AC label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417880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ASCII text using a hand-coded 8×12 bitmap font. Supports A–Z, 0–9, space, colon and dash.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&amp; CAMERA SYSTEM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4160520" cy="4023360"/>
          </a:xfrm>
          <a:prstGeom prst="rect">
            <a:avLst/>
          </a:prstGeom>
          <a:solidFill>
            <a:srgbClr val="1B4F72">
              <a:alpha val="45000"/>
            </a:srgbClr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961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Animation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source: glfwGetTime() gives elapsed seconds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angleOffset = time × 2.0 (radians/sec speed factor)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blades spaced 90° apart using i × 90°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blade: translate to hub → rotateY(angle) → rotateZ(5°) tilt → scale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time tracked for smooth frame-rate independence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independent fans at separate world positions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822960"/>
            <a:ext cx="4160520" cy="4023360"/>
          </a:xfrm>
          <a:prstGeom prst="rect">
            <a:avLst/>
          </a:prstGeom>
          <a:solidFill>
            <a:srgbClr val="1B4F72">
              <a:alpha val="45000"/>
            </a:srgbClr>
          </a:solidFill>
          <a:ln w="1905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8961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&amp; Projection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800600" y="137160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matrix: custom lookAt() — eye at (0, 2.8, 10.5)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(0, 1.8, −1.5) — slight downward look into room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Projection: perspective(45°, aspect, 0.1, 100.0)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 ratio recalculated each frame from framebuffer size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testing enabled: glEnable(GL_DEPTH_TEST)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color clear: soft blue (0.78, 0.86, 0.95)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KEY ACHIEVEMENTS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150876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8755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C++17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1737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39112" y="804672"/>
            <a:ext cx="150876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39112" y="98755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OpenGL 3.3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39112" y="1737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Profile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58184" y="804672"/>
            <a:ext cx="150876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58184" y="98755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GLFW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58184" y="1737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&amp; input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77256" y="804672"/>
            <a:ext cx="150876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77256" y="98755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77256" y="1737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loader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96328" y="804672"/>
            <a:ext cx="150876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96328" y="987552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GLSL 3.30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96328" y="1737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B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Shading language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487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math / model-loading libraries — everything built from scratch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65760" y="3493008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4×4 math library (identity, translate, scale, rotate, perspective, lookAt)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Phong shading with per-fragment ambient + diffuse + specular calculation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distinct procedural texture generators — no image file dependencies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animated ceiling fans using time-based model matrix transforms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Hand-crafted 8×12 bitmap font renderer for in-scene whiteboard text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Classroom – CSE 4288 Computer Graphics Lab</dc:title>
  <dc:subject>PptxGenJS Presentation</dc:subject>
  <dc:creator>PptxGenJS</dc:creator>
  <cp:lastModifiedBy>PptxGenJS</cp:lastModifiedBy>
  <cp:revision>1</cp:revision>
  <dcterms:created xsi:type="dcterms:W3CDTF">2026-04-25T15:22:45Z</dcterms:created>
  <dcterms:modified xsi:type="dcterms:W3CDTF">2026-04-25T15:22:45Z</dcterms:modified>
</cp:coreProperties>
</file>